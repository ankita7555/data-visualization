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575"/>
  </p:normalViewPr>
  <p:slideViewPr>
    <p:cSldViewPr snapToGrid="0" snapToObjects="1">
      <p:cViewPr varScale="1">
        <p:scale>
          <a:sx n="112" d="100"/>
          <a:sy n="112" d="100"/>
        </p:scale>
        <p:origin x="16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22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635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753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938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60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41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09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31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64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6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527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2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Milestone 4 – Divvy Bike Sharing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4"/>
            <a:ext cx="4854916" cy="3450613"/>
          </a:xfrm>
        </p:spPr>
        <p:txBody>
          <a:bodyPr>
            <a:normAutofit/>
          </a:bodyPr>
          <a:lstStyle/>
          <a:p>
            <a:r>
              <a:rPr sz="2400" dirty="0"/>
              <a:t>Dataset: </a:t>
            </a:r>
            <a:r>
              <a:rPr sz="2400" b="1" dirty="0"/>
              <a:t>Chicago Divvy Bike Sharing </a:t>
            </a:r>
            <a:r>
              <a:rPr sz="2400" dirty="0"/>
              <a:t>(2020</a:t>
            </a:r>
            <a:r>
              <a:rPr lang="en-US" sz="2400" dirty="0"/>
              <a:t> and 2019</a:t>
            </a:r>
            <a:r>
              <a:rPr sz="2400" dirty="0"/>
              <a:t> Q</a:t>
            </a:r>
            <a:r>
              <a:rPr lang="en-US" sz="2400" dirty="0"/>
              <a:t>uarter 1,2,3,4</a:t>
            </a:r>
            <a:r>
              <a:rPr sz="2400" dirty="0"/>
              <a:t>)</a:t>
            </a:r>
          </a:p>
          <a:p>
            <a:r>
              <a:rPr sz="2400" dirty="0"/>
              <a:t>Group</a:t>
            </a:r>
            <a:r>
              <a:rPr lang="en-US" sz="2400" dirty="0"/>
              <a:t> Name</a:t>
            </a:r>
            <a:r>
              <a:rPr sz="2400" dirty="0"/>
              <a:t>:</a:t>
            </a:r>
            <a:r>
              <a:rPr lang="en-US" sz="2400" dirty="0"/>
              <a:t> </a:t>
            </a:r>
            <a:r>
              <a:rPr sz="2400" dirty="0"/>
              <a:t> Visual</a:t>
            </a:r>
            <a:r>
              <a:rPr lang="en-US" sz="2400" dirty="0"/>
              <a:t> </a:t>
            </a:r>
            <a:r>
              <a:rPr sz="2400" dirty="0"/>
              <a:t>Thinker</a:t>
            </a:r>
          </a:p>
          <a:p>
            <a:r>
              <a:rPr sz="2400" dirty="0"/>
              <a:t>Members: Amar Sawant, Ankita K., Sultan A.</a:t>
            </a:r>
          </a:p>
        </p:txBody>
      </p:sp>
      <p:pic>
        <p:nvPicPr>
          <p:cNvPr id="7" name="Graphic 6" descr="Bike">
            <a:extLst>
              <a:ext uri="{FF2B5EF4-FFF2-40B4-BE49-F238E27FC236}">
                <a16:creationId xmlns:a16="http://schemas.microsoft.com/office/drawing/2014/main" id="{09928C0A-1CBE-64E4-7E28-D1C2975A8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567" y="2643754"/>
            <a:ext cx="2194573" cy="21945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08DEE8-2440-4891-F212-FD32E5C204FB}"/>
              </a:ext>
            </a:extLst>
          </p:cNvPr>
          <p:cNvSpPr txBox="1"/>
          <p:nvPr/>
        </p:nvSpPr>
        <p:spPr>
          <a:xfrm>
            <a:off x="240030" y="137160"/>
            <a:ext cx="833247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Introduction :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68BA85-96AF-F779-5C50-89483F2CE770}"/>
              </a:ext>
            </a:extLst>
          </p:cNvPr>
          <p:cNvSpPr txBox="1"/>
          <p:nvPr/>
        </p:nvSpPr>
        <p:spPr>
          <a:xfrm>
            <a:off x="240030" y="1122045"/>
            <a:ext cx="84810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2400" dirty="0"/>
              <a:t> Divvy is Chicago’s official bike-sharing system, providing millions of rides each year. This dataset captures trip patterns, user behavior, and seasonal usage trends that help analyze mobility in the city.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sz="2400" dirty="0"/>
              <a:t> The Divvy dataset contains detailed trip records including start/end times, stations, user types, and ride durations - that allow us to study transportation trends, commuter behavior, and urban mobility patterns. 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sz="2400" dirty="0"/>
              <a:t> This analysis helps reveal how Chicagoans use shared bikes throughout different seasons and regions.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72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5370A7-C95D-8DBD-FB15-4CE1CFB2F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7" y="628651"/>
            <a:ext cx="9084106" cy="5200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EE6BB1-7AC6-9392-5CBD-A1D63291EF57}"/>
              </a:ext>
            </a:extLst>
          </p:cNvPr>
          <p:cNvSpPr txBox="1"/>
          <p:nvPr/>
        </p:nvSpPr>
        <p:spPr>
          <a:xfrm>
            <a:off x="174308" y="0"/>
            <a:ext cx="61807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Visualization  – Weekday vs Weekend Patterns</a:t>
            </a:r>
            <a:br>
              <a:rPr lang="en-US" sz="2000" b="1" dirty="0"/>
            </a:br>
            <a:br>
              <a:rPr lang="en-US" sz="2000" b="1" dirty="0"/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8481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928620-206C-E38A-5F0B-D186B65CE996}"/>
              </a:ext>
            </a:extLst>
          </p:cNvPr>
          <p:cNvSpPr txBox="1"/>
          <p:nvPr/>
        </p:nvSpPr>
        <p:spPr>
          <a:xfrm>
            <a:off x="460058" y="228600"/>
            <a:ext cx="4577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Observations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001BA-4336-31B6-2CF3-5BBBDED22BBD}"/>
              </a:ext>
            </a:extLst>
          </p:cNvPr>
          <p:cNvSpPr txBox="1"/>
          <p:nvPr/>
        </p:nvSpPr>
        <p:spPr>
          <a:xfrm>
            <a:off x="357188" y="984825"/>
            <a:ext cx="878681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400" dirty="0"/>
              <a:t>Members ride mostly on weekdays.</a:t>
            </a:r>
          </a:p>
          <a:p>
            <a:pPr marL="457200" lvl="1" indent="0">
              <a:buNone/>
            </a:pPr>
            <a:r>
              <a:rPr lang="en-US" sz="2400" dirty="0"/>
              <a:t>The large yellow bars show that members use Divvy bikes heavily during Monday - Friday, likely for work or regular commuting.</a:t>
            </a:r>
            <a:br>
              <a:rPr lang="en-US" sz="2400" dirty="0"/>
            </a:br>
            <a:endParaRPr lang="en-US" sz="2400" dirty="0"/>
          </a:p>
          <a:p>
            <a:pPr>
              <a:buFont typeface="Wingdings" pitchFamily="2" charset="2"/>
              <a:buChar char="v"/>
            </a:pPr>
            <a:r>
              <a:rPr lang="en-US" sz="2400" dirty="0"/>
              <a:t> Casual riders show the opposite pattern.</a:t>
            </a:r>
          </a:p>
          <a:p>
            <a:pPr marL="457200" lvl="1" indent="0">
              <a:buNone/>
            </a:pPr>
            <a:r>
              <a:rPr lang="en-US" sz="2400" dirty="0"/>
              <a:t>Casual users ride much less during weekdays but their usage increases on weekends.</a:t>
            </a:r>
          </a:p>
          <a:p>
            <a:pPr marL="457200" lvl="1" indent="0">
              <a:buNone/>
            </a:pPr>
            <a:r>
              <a:rPr lang="en-US" sz="2400" dirty="0"/>
              <a:t>This suggests they use the bikes more for fun, leisure, or exploring the city.</a:t>
            </a:r>
            <a:br>
              <a:rPr lang="en-US" sz="2400" dirty="0"/>
            </a:br>
            <a:endParaRPr lang="en-US" sz="2400" dirty="0"/>
          </a:p>
          <a:p>
            <a:pPr>
              <a:buFont typeface="Wingdings" pitchFamily="2" charset="2"/>
              <a:buChar char="v"/>
            </a:pPr>
            <a:r>
              <a:rPr lang="en-US" sz="2400" dirty="0"/>
              <a:t> Weekends are quieter overall.</a:t>
            </a:r>
          </a:p>
          <a:p>
            <a:pPr marL="457200" lvl="1" indent="0">
              <a:buNone/>
            </a:pPr>
            <a:r>
              <a:rPr lang="en-US" sz="2400" dirty="0"/>
              <a:t>Total rides drop on weekends because members, who make up the majority, ride less during their days off.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463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D10E97-2B5F-01DA-BA47-8071C1D48A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60" b="1"/>
          <a:stretch>
            <a:fillRect/>
          </a:stretch>
        </p:blipFill>
        <p:spPr>
          <a:xfrm>
            <a:off x="457220" y="794390"/>
            <a:ext cx="7871103" cy="52692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90762B-BF71-DB7A-8B79-E830BAD921F5}"/>
              </a:ext>
            </a:extLst>
          </p:cNvPr>
          <p:cNvSpPr txBox="1"/>
          <p:nvPr/>
        </p:nvSpPr>
        <p:spPr>
          <a:xfrm>
            <a:off x="457220" y="118229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Alternate Visualization 1</a:t>
            </a:r>
          </a:p>
        </p:txBody>
      </p:sp>
    </p:spTree>
    <p:extLst>
      <p:ext uri="{BB962C8B-B14F-4D97-AF65-F5344CB8AC3E}">
        <p14:creationId xmlns:p14="http://schemas.microsoft.com/office/powerpoint/2010/main" val="2215253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4D80A1-60BD-4504-53FF-82A1CE0BC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9" y="842010"/>
            <a:ext cx="7482889" cy="4678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DC8979-95FC-5828-E96A-E1D8B637449F}"/>
              </a:ext>
            </a:extLst>
          </p:cNvPr>
          <p:cNvSpPr txBox="1"/>
          <p:nvPr/>
        </p:nvSpPr>
        <p:spPr>
          <a:xfrm>
            <a:off x="688658" y="129659"/>
            <a:ext cx="73123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Visualization 2 : </a:t>
            </a:r>
            <a:r>
              <a:rPr lang="en-US" sz="2400" dirty="0"/>
              <a:t>Distribution of Divvy trip durations</a:t>
            </a:r>
            <a:r>
              <a:rPr lang="en-US" sz="1400" dirty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17224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04856B-7DF1-1738-7672-E1095CE5A9A4}"/>
              </a:ext>
            </a:extLst>
          </p:cNvPr>
          <p:cNvSpPr txBox="1"/>
          <p:nvPr/>
        </p:nvSpPr>
        <p:spPr>
          <a:xfrm>
            <a:off x="182880" y="354330"/>
            <a:ext cx="8572500" cy="5405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Observation :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Trip Duration Pattern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Most Divvy bike trips are relatively short, typically concentrated in the 0-30 minute range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Peak Duration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The highest frequency of trips likely falls between 5-15 minutes (typical for urban bike-share usage)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 Behavior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Short trips suggest the bikes are primarily used for: 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Quick commutes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Last-mile transportation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Short errands or point-to-point travel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660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with blue lines and numbers&#10;&#10;Description automatically generated">
            <a:extLst>
              <a:ext uri="{FF2B5EF4-FFF2-40B4-BE49-F238E27FC236}">
                <a16:creationId xmlns:a16="http://schemas.microsoft.com/office/drawing/2014/main" id="{12A7E2F1-8FA9-CB02-CCD8-99D2982E0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097200"/>
            <a:ext cx="8058150" cy="4918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268E97-6B51-EC6A-A56C-DE731FDEFDAB}"/>
              </a:ext>
            </a:extLst>
          </p:cNvPr>
          <p:cNvSpPr txBox="1"/>
          <p:nvPr/>
        </p:nvSpPr>
        <p:spPr>
          <a:xfrm>
            <a:off x="460058" y="278248"/>
            <a:ext cx="7255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Visualization 3 – divvy trips throughout the day</a:t>
            </a:r>
          </a:p>
        </p:txBody>
      </p:sp>
    </p:spTree>
    <p:extLst>
      <p:ext uri="{BB962C8B-B14F-4D97-AF65-F5344CB8AC3E}">
        <p14:creationId xmlns:p14="http://schemas.microsoft.com/office/powerpoint/2010/main" val="2503336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E566B9-7C5F-4ACA-51CD-302DA421053A}"/>
              </a:ext>
            </a:extLst>
          </p:cNvPr>
          <p:cNvSpPr txBox="1"/>
          <p:nvPr/>
        </p:nvSpPr>
        <p:spPr>
          <a:xfrm>
            <a:off x="182880" y="354330"/>
            <a:ext cx="8572500" cy="2947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Observation :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Commuter Pattern: Clear double-peak at morning (7-9 AM) and evening (4-6 PM) rush hours indicate work-related usage dominates </a:t>
            </a:r>
          </a:p>
          <a:p>
            <a:pPr marL="342900" indent="-342900">
              <a:buAutoNum type="arabicPeriod" startAt="2"/>
            </a:pP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 Activity: Trips drop drastically during late night/early morning (12-5 AM), showing bikes are primarily used during active daytime hours</a:t>
            </a:r>
            <a:b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 startAt="2"/>
            </a:pPr>
            <a:endParaRPr lang="en-US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Aptos" panose="020B0004020202020204" pitchFamily="34" charset="0"/>
                <a:cs typeface="Times New Roman" panose="02020603050405020304" pitchFamily="18" charset="0"/>
              </a:rPr>
              <a:t>Alternate Visualization :</a:t>
            </a:r>
            <a:endParaRPr lang="en-US" b="1" dirty="0"/>
          </a:p>
        </p:txBody>
      </p:sp>
      <p:pic>
        <p:nvPicPr>
          <p:cNvPr id="3" name="Picture 2" descr="A graph of a bike trip pattern&#10;&#10;Description automatically generated">
            <a:extLst>
              <a:ext uri="{FF2B5EF4-FFF2-40B4-BE49-F238E27FC236}">
                <a16:creationId xmlns:a16="http://schemas.microsoft.com/office/drawing/2014/main" id="{15FF66A4-DC2D-24BF-85A2-BB6363077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10" y="2695857"/>
            <a:ext cx="4983480" cy="396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56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93A4D6-0308-5D48-03A9-59B408168DBC}"/>
              </a:ext>
            </a:extLst>
          </p:cNvPr>
          <p:cNvSpPr txBox="1"/>
          <p:nvPr/>
        </p:nvSpPr>
        <p:spPr>
          <a:xfrm>
            <a:off x="517208" y="243959"/>
            <a:ext cx="75866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Visualization 5 – monthly ridership comparison</a:t>
            </a:r>
          </a:p>
        </p:txBody>
      </p:sp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917DC13C-D15B-9689-9BB3-7491F762E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19" y="1298892"/>
            <a:ext cx="6957019" cy="413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91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5777DE-950E-A204-F131-16474326F367}"/>
              </a:ext>
            </a:extLst>
          </p:cNvPr>
          <p:cNvSpPr txBox="1"/>
          <p:nvPr/>
        </p:nvSpPr>
        <p:spPr>
          <a:xfrm>
            <a:off x="320040" y="480060"/>
            <a:ext cx="8538210" cy="443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Observation</a:t>
            </a: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</a:t>
            </a:r>
            <a:r>
              <a:rPr lang="en-US" sz="2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data reveals a dramatic seasonal pattern in bike-sharing usage throughout 2019. </a:t>
            </a:r>
            <a:b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Ridership starts low in winter months (January-February around 100,000 rides), steadily climbs through spring (March-June reaching nearly 500,000), peaks during summer months (July-August at approximately 600,000 rides), then sharply declines through fall and winter (October-December dropping back to around 150,000-180,000). </a:t>
            </a:r>
          </a:p>
        </p:txBody>
      </p:sp>
    </p:spTree>
    <p:extLst>
      <p:ext uri="{BB962C8B-B14F-4D97-AF65-F5344CB8AC3E}">
        <p14:creationId xmlns:p14="http://schemas.microsoft.com/office/powerpoint/2010/main" val="3909153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graph showing the growth of the year&#10;&#10;Description automatically generated with medium confidence">
            <a:extLst>
              <a:ext uri="{FF2B5EF4-FFF2-40B4-BE49-F238E27FC236}">
                <a16:creationId xmlns:a16="http://schemas.microsoft.com/office/drawing/2014/main" id="{D26A2635-2C0C-D989-F99F-9644DC944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72" y="837882"/>
            <a:ext cx="8062656" cy="47971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037AF0-EBB4-1CE3-035A-E23AEC324F43}"/>
              </a:ext>
            </a:extLst>
          </p:cNvPr>
          <p:cNvSpPr txBox="1"/>
          <p:nvPr/>
        </p:nvSpPr>
        <p:spPr>
          <a:xfrm>
            <a:off x="434340" y="80010"/>
            <a:ext cx="6743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Monthly Ridership Pattern – Line graph</a:t>
            </a:r>
          </a:p>
        </p:txBody>
      </p:sp>
    </p:spTree>
    <p:extLst>
      <p:ext uri="{BB962C8B-B14F-4D97-AF65-F5344CB8AC3E}">
        <p14:creationId xmlns:p14="http://schemas.microsoft.com/office/powerpoint/2010/main" val="2218051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A4AD40-8E56-40CE-B419-A4F9B6A73E08}"/>
              </a:ext>
            </a:extLst>
          </p:cNvPr>
          <p:cNvSpPr txBox="1"/>
          <p:nvPr/>
        </p:nvSpPr>
        <p:spPr>
          <a:xfrm>
            <a:off x="308610" y="160020"/>
            <a:ext cx="867537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Limitation :</a:t>
            </a:r>
          </a:p>
          <a:p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We obtained data from 2013 to 2022, so it does not include the most recent years.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The combined dataset for all years is very large, making it challenging to process efficiently in Tableau.</a:t>
            </a:r>
          </a:p>
          <a:p>
            <a:endParaRPr lang="en-US" sz="2800" dirty="0"/>
          </a:p>
          <a:p>
            <a:r>
              <a:rPr lang="en-US" sz="2800" dirty="0"/>
              <a:t>3.  Although the dataset contains start and end station names, it does not include latitude and longitude values, which makes calculating the distance for each ride difficult.</a:t>
            </a:r>
          </a:p>
        </p:txBody>
      </p:sp>
    </p:spTree>
    <p:extLst>
      <p:ext uri="{BB962C8B-B14F-4D97-AF65-F5344CB8AC3E}">
        <p14:creationId xmlns:p14="http://schemas.microsoft.com/office/powerpoint/2010/main" val="1461220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647C02-DC73-E59F-2933-0CF57968FA68}"/>
              </a:ext>
            </a:extLst>
          </p:cNvPr>
          <p:cNvSpPr txBox="1"/>
          <p:nvPr/>
        </p:nvSpPr>
        <p:spPr>
          <a:xfrm>
            <a:off x="-80010" y="205740"/>
            <a:ext cx="922401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Future Scope :</a:t>
            </a:r>
          </a:p>
          <a:p>
            <a:endParaRPr lang="en-US" sz="2400" dirty="0"/>
          </a:p>
          <a:p>
            <a:r>
              <a:rPr lang="en-US" sz="2400" dirty="0"/>
              <a:t>1. Integrate Real-Time or Latest Data :  Expand the dashboard to include data from 2023–2025 for up-to-date trends.</a:t>
            </a:r>
          </a:p>
          <a:p>
            <a:r>
              <a:rPr lang="en-US" sz="2400" dirty="0"/>
              <a:t>Add real-time ride activity for live city mobility insights.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2. Distance &amp; Route Optimization :  Add latitude/longitude data to calculate actual ride distances.</a:t>
            </a:r>
          </a:p>
          <a:p>
            <a:endParaRPr lang="en-US" sz="2400" dirty="0"/>
          </a:p>
          <a:p>
            <a:r>
              <a:rPr lang="en-US" sz="2400" dirty="0"/>
              <a:t>3. Heatmaps &amp; Advanced Geospatial Analysis : Create geospatial heatmaps for station popularity, high-demand zones, and underserved areas.</a:t>
            </a:r>
          </a:p>
          <a:p>
            <a:endParaRPr lang="en-US" sz="2400" dirty="0"/>
          </a:p>
          <a:p>
            <a:r>
              <a:rPr lang="en-US" sz="2400" dirty="0"/>
              <a:t>4. Recommendation System : Recommend the best time to ride, nearby stations, or alternative routes based on usage trends.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10192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DA44E-D737-B3F1-274F-19ADFA06B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63C853E-3842-4594-86A9-051FFAF4D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91CDC5-6B61-4116-B3B5-0FF42B6E6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5B08984-5BEB-422F-A364-2B41E6A51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F413B1-54E0-4B16-92AB-1CC5C7D64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6469CA-0938-C3D2-361C-BC14801E41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6228" r="22442" b="1"/>
          <a:stretch>
            <a:fillRect/>
          </a:stretch>
        </p:blipFill>
        <p:spPr>
          <a:xfrm>
            <a:off x="20" y="10"/>
            <a:ext cx="9143751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2168411-10C8-4F22-AD80-4F467066A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839" y="4905349"/>
            <a:ext cx="4207985" cy="1450464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223A5E-5245-F470-D99A-908D90379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634" y="5239131"/>
            <a:ext cx="3959617" cy="9600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/>
            <a:r>
              <a:rPr lang="en-US">
                <a:solidFill>
                  <a:srgbClr val="FFFFFE"/>
                </a:solidFill>
              </a:rPr>
              <a:t>Thank you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76E868E-2D30-43CC-AAD1-727A709BE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5633" y="5073596"/>
            <a:ext cx="3962397" cy="0"/>
          </a:xfrm>
          <a:prstGeom prst="line">
            <a:avLst/>
          </a:prstGeom>
          <a:ln w="31750">
            <a:solidFill>
              <a:srgbClr val="5EA3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2131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89</TotalTime>
  <Words>624</Words>
  <Application>Microsoft Macintosh PowerPoint</Application>
  <PresentationFormat>On-screen Show (4:3)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Courier New</vt:lpstr>
      <vt:lpstr>Gill Sans MT</vt:lpstr>
      <vt:lpstr>Wingdings</vt:lpstr>
      <vt:lpstr>Gallery</vt:lpstr>
      <vt:lpstr>Milestone 4 – Divvy Bike Sharing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Kshirsagar, Ankita Kiran</cp:lastModifiedBy>
  <cp:revision>56</cp:revision>
  <dcterms:created xsi:type="dcterms:W3CDTF">2013-01-27T09:14:16Z</dcterms:created>
  <dcterms:modified xsi:type="dcterms:W3CDTF">2025-11-18T23:30:06Z</dcterms:modified>
  <cp:category/>
</cp:coreProperties>
</file>